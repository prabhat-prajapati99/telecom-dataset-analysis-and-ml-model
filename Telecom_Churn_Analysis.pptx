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Libre Baskerville Bold" panose="020B0604020202020204" charset="0"/>
      <p:regular r:id="rId8"/>
    </p:embeddedFont>
    <p:embeddedFont>
      <p:font typeface="Montserrat Bold" panose="020B0604020202020204" charset="0"/>
      <p:regular r:id="rId9"/>
    </p:embeddedFont>
    <p:embeddedFont>
      <p:font typeface="Poppins" panose="00000500000000000000" pitchFamily="2" charset="0"/>
      <p:regular r:id="rId10"/>
      <p:bold r:id="rId11"/>
    </p:embeddedFont>
    <p:embeddedFont>
      <p:font typeface="Poppins Bold" panose="00000800000000000000" charset="0"/>
      <p:regular r:id="rId12"/>
    </p:embeddedFont>
    <p:embeddedFont>
      <p:font typeface="Times New Roman MT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4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50" r="-2949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4018063" y="-37333"/>
            <a:ext cx="5369891" cy="13406017"/>
            <a:chOff x="0" y="0"/>
            <a:chExt cx="628044" cy="15679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044" cy="1567923"/>
            </a:xfrm>
            <a:custGeom>
              <a:avLst/>
              <a:gdLst/>
              <a:ahLst/>
              <a:cxnLst/>
              <a:rect l="l" t="t" r="r" b="b"/>
              <a:pathLst>
                <a:path w="628044" h="1567923">
                  <a:moveTo>
                    <a:pt x="209461" y="19070"/>
                  </a:moveTo>
                  <a:cubicBezTo>
                    <a:pt x="241556" y="7556"/>
                    <a:pt x="278265" y="0"/>
                    <a:pt x="314191" y="0"/>
                  </a:cubicBezTo>
                  <a:cubicBezTo>
                    <a:pt x="350119" y="0"/>
                    <a:pt x="384690" y="6476"/>
                    <a:pt x="416549" y="17990"/>
                  </a:cubicBezTo>
                  <a:cubicBezTo>
                    <a:pt x="417228" y="18350"/>
                    <a:pt x="417905" y="18350"/>
                    <a:pt x="418583" y="18710"/>
                  </a:cubicBezTo>
                  <a:cubicBezTo>
                    <a:pt x="538227" y="64765"/>
                    <a:pt x="626350" y="186379"/>
                    <a:pt x="628044" y="345275"/>
                  </a:cubicBezTo>
                  <a:lnTo>
                    <a:pt x="628044" y="1567923"/>
                  </a:lnTo>
                  <a:lnTo>
                    <a:pt x="0" y="1567923"/>
                  </a:lnTo>
                  <a:lnTo>
                    <a:pt x="0" y="346183"/>
                  </a:lnTo>
                  <a:cubicBezTo>
                    <a:pt x="1695" y="185660"/>
                    <a:pt x="88462" y="64045"/>
                    <a:pt x="209461" y="19070"/>
                  </a:cubicBezTo>
                  <a:close/>
                </a:path>
              </a:pathLst>
            </a:custGeom>
            <a:solidFill>
              <a:srgbClr val="F7BAB9">
                <a:alpha val="3372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9850"/>
              <a:ext cx="628044" cy="149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057301" y="261517"/>
            <a:ext cx="4881983" cy="4881983"/>
          </a:xfrm>
          <a:custGeom>
            <a:avLst/>
            <a:gdLst/>
            <a:ahLst/>
            <a:cxnLst/>
            <a:rect l="l" t="t" r="r" b="b"/>
            <a:pathLst>
              <a:path w="4881983" h="4881983">
                <a:moveTo>
                  <a:pt x="0" y="0"/>
                </a:moveTo>
                <a:lnTo>
                  <a:pt x="4881983" y="0"/>
                </a:lnTo>
                <a:lnTo>
                  <a:pt x="4881983" y="4881983"/>
                </a:lnTo>
                <a:lnTo>
                  <a:pt x="0" y="48819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5284" y="5128316"/>
            <a:ext cx="13820231" cy="364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85"/>
              </a:lnSpc>
            </a:pPr>
            <a:r>
              <a:rPr lang="en-US" sz="12896" b="1" spc="-348">
                <a:solidFill>
                  <a:srgbClr val="89686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Cutomer Churn Analysis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458559" y="9344626"/>
            <a:ext cx="4990719" cy="38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  <a:spcBef>
                <a:spcPct val="0"/>
              </a:spcBef>
            </a:pPr>
            <a:r>
              <a:rPr lang="en-US" sz="2623" b="1">
                <a:solidFill>
                  <a:srgbClr val="896865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Team -  Upgrad Shark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-678834"/>
            <a:ext cx="2710980" cy="2507265"/>
          </a:xfrm>
          <a:custGeom>
            <a:avLst/>
            <a:gdLst/>
            <a:ahLst/>
            <a:cxnLst/>
            <a:rect l="l" t="t" r="r" b="b"/>
            <a:pathLst>
              <a:path w="2710980" h="2507265">
                <a:moveTo>
                  <a:pt x="0" y="0"/>
                </a:moveTo>
                <a:lnTo>
                  <a:pt x="2710980" y="0"/>
                </a:lnTo>
                <a:lnTo>
                  <a:pt x="2710980" y="2507265"/>
                </a:lnTo>
                <a:lnTo>
                  <a:pt x="0" y="2507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50" r="-2949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2891953" y="-3286116"/>
            <a:ext cx="1470298" cy="7254203"/>
            <a:chOff x="0" y="0"/>
            <a:chExt cx="628044" cy="3098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044" cy="3098666"/>
            </a:xfrm>
            <a:custGeom>
              <a:avLst/>
              <a:gdLst/>
              <a:ahLst/>
              <a:cxnLst/>
              <a:rect l="l" t="t" r="r" b="b"/>
              <a:pathLst>
                <a:path w="628044" h="3098666">
                  <a:moveTo>
                    <a:pt x="209461" y="19070"/>
                  </a:moveTo>
                  <a:cubicBezTo>
                    <a:pt x="241556" y="7556"/>
                    <a:pt x="278265" y="0"/>
                    <a:pt x="314191" y="0"/>
                  </a:cubicBezTo>
                  <a:cubicBezTo>
                    <a:pt x="350119" y="0"/>
                    <a:pt x="384690" y="6476"/>
                    <a:pt x="416549" y="17990"/>
                  </a:cubicBezTo>
                  <a:cubicBezTo>
                    <a:pt x="417228" y="18350"/>
                    <a:pt x="417905" y="18350"/>
                    <a:pt x="418583" y="18710"/>
                  </a:cubicBezTo>
                  <a:cubicBezTo>
                    <a:pt x="538227" y="64765"/>
                    <a:pt x="626350" y="186379"/>
                    <a:pt x="628044" y="379278"/>
                  </a:cubicBezTo>
                  <a:lnTo>
                    <a:pt x="628044" y="3098666"/>
                  </a:lnTo>
                  <a:lnTo>
                    <a:pt x="0" y="3098666"/>
                  </a:lnTo>
                  <a:lnTo>
                    <a:pt x="0" y="381296"/>
                  </a:lnTo>
                  <a:cubicBezTo>
                    <a:pt x="1695" y="185660"/>
                    <a:pt x="88462" y="64045"/>
                    <a:pt x="209461" y="19070"/>
                  </a:cubicBezTo>
                  <a:close/>
                </a:path>
              </a:pathLst>
            </a:custGeom>
            <a:solidFill>
              <a:srgbClr val="F7BAB9">
                <a:alpha val="6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9850"/>
              <a:ext cx="628044" cy="3028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615120" y="-783449"/>
            <a:ext cx="2710980" cy="2507265"/>
          </a:xfrm>
          <a:custGeom>
            <a:avLst/>
            <a:gdLst/>
            <a:ahLst/>
            <a:cxnLst/>
            <a:rect l="l" t="t" r="r" b="b"/>
            <a:pathLst>
              <a:path w="2710980" h="2507265">
                <a:moveTo>
                  <a:pt x="0" y="0"/>
                </a:moveTo>
                <a:lnTo>
                  <a:pt x="2710980" y="0"/>
                </a:lnTo>
                <a:lnTo>
                  <a:pt x="2710980" y="2507265"/>
                </a:lnTo>
                <a:lnTo>
                  <a:pt x="0" y="2507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8290" y="95622"/>
            <a:ext cx="7090680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5143" b="1" dirty="0">
                <a:solidFill>
                  <a:srgbClr val="A548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Understanding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873" y="1232366"/>
            <a:ext cx="10567027" cy="8802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A54840"/>
                </a:solidFill>
              </a:rPr>
              <a:t>Customer Churn Problem</a:t>
            </a:r>
            <a:endParaRPr lang="en-US" sz="3600" dirty="0">
              <a:solidFill>
                <a:srgbClr val="A54840"/>
              </a:solidFill>
            </a:endParaRPr>
          </a:p>
          <a:p>
            <a:r>
              <a:rPr lang="en-US" sz="3200" dirty="0">
                <a:solidFill>
                  <a:srgbClr val="A54840"/>
                </a:solidFill>
              </a:rPr>
              <a:t>Many customers are leaving telecom services.</a:t>
            </a:r>
          </a:p>
          <a:p>
            <a:r>
              <a:rPr lang="en-US" sz="3200" dirty="0">
                <a:solidFill>
                  <a:srgbClr val="A54840"/>
                </a:solidFill>
              </a:rPr>
              <a:t>This causes loss for the company.</a:t>
            </a:r>
          </a:p>
          <a:p>
            <a:r>
              <a:rPr lang="en-US" sz="3200" dirty="0">
                <a:solidFill>
                  <a:srgbClr val="A54840"/>
                </a:solidFill>
              </a:rPr>
              <a:t>We need to understand why customers leave.</a:t>
            </a:r>
          </a:p>
          <a:p>
            <a:r>
              <a:rPr lang="en-US" sz="3600" b="1" dirty="0">
                <a:solidFill>
                  <a:srgbClr val="A54840"/>
                </a:solidFill>
              </a:rPr>
              <a:t>Goal of This Project</a:t>
            </a:r>
            <a:endParaRPr lang="en-US" sz="1600" dirty="0">
              <a:solidFill>
                <a:srgbClr val="A54840"/>
              </a:solidFill>
            </a:endParaRPr>
          </a:p>
          <a:p>
            <a:r>
              <a:rPr lang="en-US" sz="3200" dirty="0">
                <a:solidFill>
                  <a:srgbClr val="A54840"/>
                </a:solidFill>
              </a:rPr>
              <a:t>Find out why customers are leaving.</a:t>
            </a:r>
          </a:p>
          <a:p>
            <a:r>
              <a:rPr lang="en-US" sz="3200" dirty="0">
                <a:solidFill>
                  <a:srgbClr val="A54840"/>
                </a:solidFill>
              </a:rPr>
              <a:t>Analyze customer data.</a:t>
            </a:r>
          </a:p>
          <a:p>
            <a:r>
              <a:rPr lang="en-US" sz="3200" dirty="0">
                <a:solidFill>
                  <a:srgbClr val="A54840"/>
                </a:solidFill>
              </a:rPr>
              <a:t>Identify important factors affecting churn.</a:t>
            </a:r>
          </a:p>
          <a:p>
            <a:r>
              <a:rPr lang="en-US" sz="3600" b="1" dirty="0">
                <a:solidFill>
                  <a:srgbClr val="A54840"/>
                </a:solidFill>
              </a:rPr>
              <a:t>Questions to Answer</a:t>
            </a:r>
            <a:endParaRPr lang="en-US" sz="1600" dirty="0">
              <a:solidFill>
                <a:srgbClr val="A54840"/>
              </a:solidFill>
            </a:endParaRPr>
          </a:p>
          <a:p>
            <a:r>
              <a:rPr lang="en-US" sz="3200" dirty="0">
                <a:solidFill>
                  <a:srgbClr val="A54840"/>
                </a:solidFill>
              </a:rPr>
              <a:t>Which customers leave the most?</a:t>
            </a:r>
          </a:p>
          <a:p>
            <a:r>
              <a:rPr lang="en-US" sz="3200" dirty="0">
                <a:solidFill>
                  <a:srgbClr val="A54840"/>
                </a:solidFill>
              </a:rPr>
              <a:t>Does service quality affect churn?</a:t>
            </a:r>
          </a:p>
          <a:p>
            <a:r>
              <a:rPr lang="en-US" sz="3200" dirty="0">
                <a:solidFill>
                  <a:srgbClr val="A54840"/>
                </a:solidFill>
              </a:rPr>
              <a:t>Do price and plans affect customers?</a:t>
            </a:r>
          </a:p>
          <a:p>
            <a:r>
              <a:rPr lang="en-US" sz="3200" dirty="0">
                <a:solidFill>
                  <a:srgbClr val="A54840"/>
                </a:solidFill>
              </a:rPr>
              <a:t>Does contract type matter?</a:t>
            </a:r>
          </a:p>
          <a:p>
            <a:r>
              <a:rPr lang="en-US" sz="3600" b="1" dirty="0">
                <a:solidFill>
                  <a:srgbClr val="A54840"/>
                </a:solidFill>
              </a:rPr>
              <a:t>Importance</a:t>
            </a:r>
            <a:endParaRPr lang="en-US" sz="1600" dirty="0">
              <a:solidFill>
                <a:srgbClr val="A54840"/>
              </a:solidFill>
            </a:endParaRPr>
          </a:p>
          <a:p>
            <a:r>
              <a:rPr lang="en-US" sz="3200" dirty="0">
                <a:solidFill>
                  <a:srgbClr val="A54840"/>
                </a:solidFill>
              </a:rPr>
              <a:t>Helps reduce customer loss.</a:t>
            </a:r>
          </a:p>
          <a:p>
            <a:r>
              <a:rPr lang="en-US" sz="3200" dirty="0">
                <a:solidFill>
                  <a:srgbClr val="A54840"/>
                </a:solidFill>
              </a:rPr>
              <a:t>Improves customer satisfaction.</a:t>
            </a:r>
          </a:p>
          <a:p>
            <a:r>
              <a:rPr lang="en-US" sz="3200" dirty="0">
                <a:solidFill>
                  <a:srgbClr val="A54840"/>
                </a:solidFill>
              </a:rPr>
              <a:t>Helps company grow and earn more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50" r="-2949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3796828" y="-4190991"/>
            <a:ext cx="1470298" cy="9063953"/>
            <a:chOff x="0" y="0"/>
            <a:chExt cx="628044" cy="38717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044" cy="3871709"/>
            </a:xfrm>
            <a:custGeom>
              <a:avLst/>
              <a:gdLst/>
              <a:ahLst/>
              <a:cxnLst/>
              <a:rect l="l" t="t" r="r" b="b"/>
              <a:pathLst>
                <a:path w="628044" h="3871709">
                  <a:moveTo>
                    <a:pt x="209461" y="19070"/>
                  </a:moveTo>
                  <a:cubicBezTo>
                    <a:pt x="241556" y="7556"/>
                    <a:pt x="278265" y="0"/>
                    <a:pt x="314191" y="0"/>
                  </a:cubicBezTo>
                  <a:cubicBezTo>
                    <a:pt x="350119" y="0"/>
                    <a:pt x="384690" y="6476"/>
                    <a:pt x="416549" y="17990"/>
                  </a:cubicBezTo>
                  <a:cubicBezTo>
                    <a:pt x="417228" y="18350"/>
                    <a:pt x="417905" y="18350"/>
                    <a:pt x="418583" y="18710"/>
                  </a:cubicBezTo>
                  <a:cubicBezTo>
                    <a:pt x="538227" y="64765"/>
                    <a:pt x="626350" y="186379"/>
                    <a:pt x="628044" y="396449"/>
                  </a:cubicBezTo>
                  <a:lnTo>
                    <a:pt x="628044" y="3871709"/>
                  </a:lnTo>
                  <a:lnTo>
                    <a:pt x="0" y="3871709"/>
                  </a:lnTo>
                  <a:lnTo>
                    <a:pt x="0" y="399028"/>
                  </a:lnTo>
                  <a:cubicBezTo>
                    <a:pt x="1695" y="185660"/>
                    <a:pt x="88462" y="64045"/>
                    <a:pt x="209461" y="19070"/>
                  </a:cubicBezTo>
                  <a:close/>
                </a:path>
              </a:pathLst>
            </a:custGeom>
            <a:solidFill>
              <a:srgbClr val="F7BAB9">
                <a:alpha val="6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9850"/>
              <a:ext cx="628044" cy="3801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114672"/>
            <a:ext cx="8839409" cy="85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5143" b="1">
                <a:solidFill>
                  <a:srgbClr val="A548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Overview &amp; Approach</a:t>
            </a:r>
          </a:p>
        </p:txBody>
      </p:sp>
      <p:sp>
        <p:nvSpPr>
          <p:cNvPr id="7" name="Freeform 7"/>
          <p:cNvSpPr/>
          <p:nvPr/>
        </p:nvSpPr>
        <p:spPr>
          <a:xfrm>
            <a:off x="15615120" y="-783449"/>
            <a:ext cx="2710980" cy="2507265"/>
          </a:xfrm>
          <a:custGeom>
            <a:avLst/>
            <a:gdLst/>
            <a:ahLst/>
            <a:cxnLst/>
            <a:rect l="l" t="t" r="r" b="b"/>
            <a:pathLst>
              <a:path w="2710980" h="2507265">
                <a:moveTo>
                  <a:pt x="0" y="0"/>
                </a:moveTo>
                <a:lnTo>
                  <a:pt x="2710980" y="0"/>
                </a:lnTo>
                <a:lnTo>
                  <a:pt x="2710980" y="2507265"/>
                </a:lnTo>
                <a:lnTo>
                  <a:pt x="0" y="2507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8625" y="2448119"/>
            <a:ext cx="10746788" cy="789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9"/>
              </a:lnSpc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The dataset contains information about telecom customers and their subscription details. It is used to analyze customer behavior and identify churn patterns.</a:t>
            </a:r>
          </a:p>
          <a:p>
            <a:pPr algn="l">
              <a:lnSpc>
                <a:spcPts val="2739"/>
              </a:lnSpc>
              <a:spcBef>
                <a:spcPct val="0"/>
              </a:spcBef>
            </a:pPr>
            <a:r>
              <a:rPr lang="en-US" sz="1956" b="1" dirty="0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Key Details:</a:t>
            </a:r>
          </a:p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Total Records: ~7,000+ customers </a:t>
            </a:r>
          </a:p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Total Features: 20+ columns</a:t>
            </a:r>
          </a:p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Target Variable: Churn (Yes/No – whether a customer left the service)</a:t>
            </a:r>
          </a:p>
          <a:p>
            <a:pPr algn="l">
              <a:lnSpc>
                <a:spcPts val="2739"/>
              </a:lnSpc>
            </a:pPr>
            <a:r>
              <a:rPr lang="en-US" sz="1956" b="1" dirty="0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Types of Features:</a:t>
            </a:r>
          </a:p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Customer Demographics :</a:t>
            </a:r>
          </a:p>
          <a:p>
            <a:pPr marL="844834" lvl="2" indent="-281611" algn="l">
              <a:lnSpc>
                <a:spcPts val="2739"/>
              </a:lnSpc>
              <a:buFont typeface="Arial"/>
              <a:buChar char="⚬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Gender, Senior Citizen, Partner, Dependents</a:t>
            </a:r>
          </a:p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Account Information :</a:t>
            </a:r>
          </a:p>
          <a:p>
            <a:pPr marL="844834" lvl="2" indent="-281611" algn="l">
              <a:lnSpc>
                <a:spcPts val="2739"/>
              </a:lnSpc>
              <a:buFont typeface="Arial"/>
              <a:buChar char="⚬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Tenure, Contract Type, Payment Method, Monthly Charges, Total Charges</a:t>
            </a:r>
          </a:p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Services Used :</a:t>
            </a:r>
          </a:p>
          <a:p>
            <a:pPr marL="844834" lvl="2" indent="-281611" algn="l">
              <a:lnSpc>
                <a:spcPts val="2739"/>
              </a:lnSpc>
              <a:buFont typeface="Arial"/>
              <a:buChar char="⚬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Phone Service, Internet Service, Online Security, Streaming, etc.</a:t>
            </a:r>
          </a:p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Target Column :</a:t>
            </a:r>
          </a:p>
          <a:p>
            <a:pPr marL="844834" lvl="2" indent="-281611" algn="l">
              <a:lnSpc>
                <a:spcPts val="2739"/>
              </a:lnSpc>
              <a:spcBef>
                <a:spcPct val="0"/>
              </a:spcBef>
              <a:buFont typeface="Arial"/>
              <a:buChar char="⚬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Churn (indicates customer retention or loss)</a:t>
            </a:r>
          </a:p>
          <a:p>
            <a:pPr algn="l">
              <a:lnSpc>
                <a:spcPts val="2739"/>
              </a:lnSpc>
              <a:spcBef>
                <a:spcPct val="0"/>
              </a:spcBef>
            </a:pPr>
            <a:r>
              <a:rPr lang="en-US" sz="1956" b="1" dirty="0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 steps:</a:t>
            </a:r>
          </a:p>
          <a:p>
            <a:pPr marL="844834" lvl="2" indent="-281611" algn="l">
              <a:lnSpc>
                <a:spcPts val="2739"/>
              </a:lnSpc>
              <a:spcBef>
                <a:spcPct val="0"/>
              </a:spcBef>
              <a:buFont typeface="Arial"/>
              <a:buChar char="⚬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Handling missing values : Customers with blank total charges have 0</a:t>
            </a:r>
          </a:p>
          <a:p>
            <a:pPr algn="l">
              <a:lnSpc>
                <a:spcPts val="2739"/>
              </a:lnSpc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     tenure, indicating new customers, so missing values were replaced with 0.</a:t>
            </a:r>
          </a:p>
          <a:p>
            <a:pPr marL="844834" lvl="2" indent="-281611" algn="l">
              <a:lnSpc>
                <a:spcPts val="2739"/>
              </a:lnSpc>
              <a:spcBef>
                <a:spcPct val="0"/>
              </a:spcBef>
              <a:buFont typeface="Arial"/>
              <a:buChar char="⚬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Checking duplicates : We have no any Duplicates.</a:t>
            </a:r>
          </a:p>
          <a:p>
            <a:pPr marL="844834" lvl="2" indent="-281611" algn="l">
              <a:lnSpc>
                <a:spcPts val="2739"/>
              </a:lnSpc>
              <a:spcBef>
                <a:spcPct val="0"/>
              </a:spcBef>
              <a:buFont typeface="Arial"/>
              <a:buChar char="⚬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Data type conversion : We have replaced the whitespaces</a:t>
            </a:r>
          </a:p>
          <a:p>
            <a:pPr algn="l">
              <a:lnSpc>
                <a:spcPts val="2739"/>
              </a:lnSpc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with 0 let's change the datatype to float.</a:t>
            </a:r>
          </a:p>
          <a:p>
            <a:pPr algn="l">
              <a:lnSpc>
                <a:spcPts val="2739"/>
              </a:lnSpc>
              <a:spcBef>
                <a:spcPct val="0"/>
              </a:spcBef>
            </a:pPr>
            <a:endParaRPr lang="en-US" sz="1956" dirty="0">
              <a:solidFill>
                <a:srgbClr val="A548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739"/>
              </a:lnSpc>
              <a:spcBef>
                <a:spcPct val="0"/>
              </a:spcBef>
            </a:pPr>
            <a:endParaRPr lang="en-US" sz="1956" dirty="0">
              <a:solidFill>
                <a:srgbClr val="A548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 rot="5400000">
            <a:off x="5787206" y="5013411"/>
            <a:ext cx="10776414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_________________________________________________________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0090" y="1443306"/>
            <a:ext cx="8839409" cy="85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5143" b="1">
                <a:solidFill>
                  <a:srgbClr val="A548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Overview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31451" y="1252928"/>
            <a:ext cx="9125159" cy="85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5143" b="1">
                <a:solidFill>
                  <a:srgbClr val="A548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Approach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46358" y="3086250"/>
            <a:ext cx="6551167" cy="559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485" lvl="1" indent="-289243" algn="l">
              <a:lnSpc>
                <a:spcPts val="6403"/>
              </a:lnSpc>
              <a:buFont typeface="Arial"/>
              <a:buChar char="•"/>
            </a:pPr>
            <a:r>
              <a:rPr lang="en-US" sz="2679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</a:p>
          <a:p>
            <a:pPr marL="578485" lvl="1" indent="-289243" algn="l">
              <a:lnSpc>
                <a:spcPts val="6403"/>
              </a:lnSpc>
              <a:buFont typeface="Arial"/>
              <a:buChar char="•"/>
            </a:pPr>
            <a:r>
              <a:rPr lang="en-US" sz="2679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  <a:p>
            <a:pPr marL="578485" lvl="1" indent="-289243" algn="l">
              <a:lnSpc>
                <a:spcPts val="6403"/>
              </a:lnSpc>
              <a:buFont typeface="Arial"/>
              <a:buChar char="•"/>
            </a:pPr>
            <a:r>
              <a:rPr lang="en-US" sz="2679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 (EDA)</a:t>
            </a:r>
          </a:p>
          <a:p>
            <a:pPr marL="578485" lvl="1" indent="-289243" algn="l">
              <a:lnSpc>
                <a:spcPts val="6403"/>
              </a:lnSpc>
              <a:buFont typeface="Arial"/>
              <a:buChar char="•"/>
            </a:pPr>
            <a:r>
              <a:rPr lang="en-US" sz="2679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Analysis</a:t>
            </a:r>
          </a:p>
          <a:p>
            <a:pPr marL="578485" lvl="1" indent="-289243" algn="l">
              <a:lnSpc>
                <a:spcPts val="6403"/>
              </a:lnSpc>
              <a:buFont typeface="Arial"/>
              <a:buChar char="•"/>
            </a:pPr>
            <a:r>
              <a:rPr lang="en-US" sz="2679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Churn Analysis</a:t>
            </a:r>
          </a:p>
          <a:p>
            <a:pPr marL="578485" lvl="1" indent="-289243" algn="l">
              <a:lnSpc>
                <a:spcPts val="6403"/>
              </a:lnSpc>
              <a:buFont typeface="Arial"/>
              <a:buChar char="•"/>
            </a:pPr>
            <a:r>
              <a:rPr lang="en-US" sz="2679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Insights Generation</a:t>
            </a:r>
          </a:p>
          <a:p>
            <a:pPr marL="578485" lvl="1" indent="-289243" algn="l">
              <a:lnSpc>
                <a:spcPts val="6403"/>
              </a:lnSpc>
              <a:buFont typeface="Arial"/>
              <a:buChar char="•"/>
            </a:pPr>
            <a:r>
              <a:rPr lang="en-US" sz="2679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50" r="-2949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-394172" y="-4190991"/>
            <a:ext cx="1470298" cy="9063953"/>
            <a:chOff x="0" y="0"/>
            <a:chExt cx="628044" cy="38717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044" cy="3871709"/>
            </a:xfrm>
            <a:custGeom>
              <a:avLst/>
              <a:gdLst/>
              <a:ahLst/>
              <a:cxnLst/>
              <a:rect l="l" t="t" r="r" b="b"/>
              <a:pathLst>
                <a:path w="628044" h="3871709">
                  <a:moveTo>
                    <a:pt x="209461" y="19070"/>
                  </a:moveTo>
                  <a:cubicBezTo>
                    <a:pt x="241556" y="7556"/>
                    <a:pt x="278265" y="0"/>
                    <a:pt x="314191" y="0"/>
                  </a:cubicBezTo>
                  <a:cubicBezTo>
                    <a:pt x="350119" y="0"/>
                    <a:pt x="384690" y="6476"/>
                    <a:pt x="416549" y="17990"/>
                  </a:cubicBezTo>
                  <a:cubicBezTo>
                    <a:pt x="417228" y="18350"/>
                    <a:pt x="417905" y="18350"/>
                    <a:pt x="418583" y="18710"/>
                  </a:cubicBezTo>
                  <a:cubicBezTo>
                    <a:pt x="538227" y="64765"/>
                    <a:pt x="626350" y="186379"/>
                    <a:pt x="628044" y="396449"/>
                  </a:cubicBezTo>
                  <a:lnTo>
                    <a:pt x="628044" y="3871709"/>
                  </a:lnTo>
                  <a:lnTo>
                    <a:pt x="0" y="3871709"/>
                  </a:lnTo>
                  <a:lnTo>
                    <a:pt x="0" y="399028"/>
                  </a:lnTo>
                  <a:cubicBezTo>
                    <a:pt x="1695" y="185660"/>
                    <a:pt x="88462" y="64045"/>
                    <a:pt x="209461" y="19070"/>
                  </a:cubicBezTo>
                  <a:close/>
                </a:path>
              </a:pathLst>
            </a:custGeom>
            <a:solidFill>
              <a:srgbClr val="F7BAB9">
                <a:alpha val="6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9850"/>
              <a:ext cx="628044" cy="3801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615120" y="-783449"/>
            <a:ext cx="2710980" cy="2507265"/>
          </a:xfrm>
          <a:custGeom>
            <a:avLst/>
            <a:gdLst/>
            <a:ahLst/>
            <a:cxnLst/>
            <a:rect l="l" t="t" r="r" b="b"/>
            <a:pathLst>
              <a:path w="2710980" h="2507265">
                <a:moveTo>
                  <a:pt x="0" y="0"/>
                </a:moveTo>
                <a:lnTo>
                  <a:pt x="2710980" y="0"/>
                </a:lnTo>
                <a:lnTo>
                  <a:pt x="2710980" y="2507265"/>
                </a:lnTo>
                <a:lnTo>
                  <a:pt x="0" y="2507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000">
            <a:off x="11052716" y="915162"/>
            <a:ext cx="6663482" cy="2975707"/>
          </a:xfrm>
          <a:custGeom>
            <a:avLst/>
            <a:gdLst/>
            <a:ahLst/>
            <a:cxnLst/>
            <a:rect l="l" t="t" r="r" b="b"/>
            <a:pathLst>
              <a:path w="6663482" h="2975707">
                <a:moveTo>
                  <a:pt x="0" y="11621"/>
                </a:moveTo>
                <a:lnTo>
                  <a:pt x="6658308" y="0"/>
                </a:lnTo>
                <a:lnTo>
                  <a:pt x="6663482" y="2964085"/>
                </a:lnTo>
                <a:lnTo>
                  <a:pt x="5173" y="2975706"/>
                </a:lnTo>
                <a:lnTo>
                  <a:pt x="0" y="11621"/>
                </a:lnTo>
                <a:close/>
              </a:path>
            </a:pathLst>
          </a:custGeom>
          <a:blipFill>
            <a:blip r:embed="rId4"/>
            <a:stretch>
              <a:fillRect l="-7926" t="-20911" r="-64" b="-1088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682357" y="4112190"/>
            <a:ext cx="4802815" cy="3029905"/>
          </a:xfrm>
          <a:custGeom>
            <a:avLst/>
            <a:gdLst/>
            <a:ahLst/>
            <a:cxnLst/>
            <a:rect l="l" t="t" r="r" b="b"/>
            <a:pathLst>
              <a:path w="4802815" h="3029905">
                <a:moveTo>
                  <a:pt x="0" y="0"/>
                </a:moveTo>
                <a:lnTo>
                  <a:pt x="4802815" y="0"/>
                </a:lnTo>
                <a:lnTo>
                  <a:pt x="4802815" y="3029904"/>
                </a:lnTo>
                <a:lnTo>
                  <a:pt x="0" y="3029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010" t="-22068" r="-279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682357" y="7323817"/>
            <a:ext cx="4802815" cy="2839358"/>
          </a:xfrm>
          <a:custGeom>
            <a:avLst/>
            <a:gdLst/>
            <a:ahLst/>
            <a:cxnLst/>
            <a:rect l="l" t="t" r="r" b="b"/>
            <a:pathLst>
              <a:path w="4802815" h="2839358">
                <a:moveTo>
                  <a:pt x="0" y="0"/>
                </a:moveTo>
                <a:lnTo>
                  <a:pt x="4802815" y="0"/>
                </a:lnTo>
                <a:lnTo>
                  <a:pt x="4802815" y="2839358"/>
                </a:lnTo>
                <a:lnTo>
                  <a:pt x="0" y="28393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9993" b="-701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2095500" y="114672"/>
            <a:ext cx="8839409" cy="85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5143" b="1">
                <a:solidFill>
                  <a:srgbClr val="A548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015" y="1468713"/>
            <a:ext cx="10451673" cy="69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Short-term plans (Month-to-Month) have significantly higher churn, </a:t>
            </a:r>
          </a:p>
          <a:p>
            <a:pPr algn="l">
              <a:lnSpc>
                <a:spcPts val="2739"/>
              </a:lnSpc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      while long-term contracts (especially 2-year) retain customers much better.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076" y="2163106"/>
            <a:ext cx="11149106" cy="172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Customers: </a:t>
            </a: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7,043</a:t>
            </a:r>
          </a:p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Month-to-Month Plan </a:t>
            </a: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has the highest customers (54%) and highest churn (43%)</a:t>
            </a:r>
          </a:p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1-Year Plan</a:t>
            </a: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has moderate customers (21%) and low churn (11%)</a:t>
            </a:r>
          </a:p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2-Year Plan</a:t>
            </a: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has stable customers (24%) and very low churn (2.8%)</a:t>
            </a:r>
          </a:p>
          <a:p>
            <a:pPr algn="l">
              <a:lnSpc>
                <a:spcPts val="2739"/>
              </a:lnSpc>
            </a:pPr>
            <a:endParaRPr lang="en-US" sz="1956">
              <a:solidFill>
                <a:srgbClr val="A548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8601" y="4503254"/>
            <a:ext cx="10666696" cy="2064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Overall internet users show ~44% churn</a:t>
            </a:r>
          </a:p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DSL users: Avg charges = 45, with 62% staying and 38% churn</a:t>
            </a:r>
          </a:p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Fiber Optic users: Avg charges = 70, with only 47% staying and 53% churn (highest)</a:t>
            </a:r>
          </a:p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66% of staying customers are Senior Citizens → more loyal segment</a:t>
            </a:r>
          </a:p>
          <a:p>
            <a:pPr marL="422417" lvl="1" indent="-211208" algn="l">
              <a:lnSpc>
                <a:spcPts val="2739"/>
              </a:lnSpc>
              <a:buAutoNum type="arabicPeriod"/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Fiber Optic users are leaving more despite higher charges, mainly due to speed and maintenance issues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50" y="4152900"/>
            <a:ext cx="10451673" cy="35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Internet Service &amp; Churn Insight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3351" y="7193446"/>
            <a:ext cx="11553188" cy="240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417" lvl="1" indent="-211208">
              <a:lnSpc>
                <a:spcPts val="2739"/>
              </a:lnSpc>
              <a:buAutoNum type="arabicPeriod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Device Protection &amp; Online Backup – Churn Summary</a:t>
            </a:r>
          </a:p>
          <a:p>
            <a:pPr marL="422417" lvl="1" indent="-211208">
              <a:lnSpc>
                <a:spcPts val="2739"/>
              </a:lnSpc>
              <a:buAutoNum type="arabicPeriod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Customers without Device Protection have high churn (~39%)</a:t>
            </a:r>
          </a:p>
          <a:p>
            <a:pPr marL="422417" lvl="1" indent="-211208">
              <a:lnSpc>
                <a:spcPts val="2739"/>
              </a:lnSpc>
              <a:buAutoNum type="arabicPeriod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Customers with Device Protection have lower churn (~22%)</a:t>
            </a:r>
          </a:p>
          <a:p>
            <a:pPr marL="422417" lvl="1" indent="-211208">
              <a:lnSpc>
                <a:spcPts val="2739"/>
              </a:lnSpc>
              <a:buAutoNum type="arabicPeriod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Customers without Online Backup also show high churn (~40%)</a:t>
            </a:r>
          </a:p>
          <a:p>
            <a:pPr marL="422417" lvl="1" indent="-211208">
              <a:lnSpc>
                <a:spcPts val="2739"/>
              </a:lnSpc>
              <a:buAutoNum type="arabicPeriod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Customers with Online Backup have lower churn (~21%)</a:t>
            </a:r>
          </a:p>
          <a:p>
            <a:pPr marL="422417" lvl="1" indent="-211208">
              <a:lnSpc>
                <a:spcPts val="2739"/>
              </a:lnSpc>
              <a:buAutoNum type="arabicPeriod"/>
            </a:pPr>
            <a:r>
              <a:rPr lang="en-US" sz="1956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Customers with no internet service have very low churn (~7%)</a:t>
            </a:r>
          </a:p>
          <a:p>
            <a:pPr marL="211209" lvl="1">
              <a:lnSpc>
                <a:spcPts val="2739"/>
              </a:lnSpc>
            </a:pPr>
            <a:endParaRPr lang="en-US" sz="1956" dirty="0">
              <a:solidFill>
                <a:srgbClr val="A548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0" y="6747842"/>
            <a:ext cx="11846539" cy="35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Additional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" y="1804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50" r="-2949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367828" y="-4190991"/>
            <a:ext cx="1470298" cy="9063953"/>
            <a:chOff x="0" y="0"/>
            <a:chExt cx="628044" cy="38717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044" cy="3871709"/>
            </a:xfrm>
            <a:custGeom>
              <a:avLst/>
              <a:gdLst/>
              <a:ahLst/>
              <a:cxnLst/>
              <a:rect l="l" t="t" r="r" b="b"/>
              <a:pathLst>
                <a:path w="628044" h="3871709">
                  <a:moveTo>
                    <a:pt x="209461" y="19070"/>
                  </a:moveTo>
                  <a:cubicBezTo>
                    <a:pt x="241556" y="7556"/>
                    <a:pt x="278265" y="0"/>
                    <a:pt x="314191" y="0"/>
                  </a:cubicBezTo>
                  <a:cubicBezTo>
                    <a:pt x="350119" y="0"/>
                    <a:pt x="384690" y="6476"/>
                    <a:pt x="416549" y="17990"/>
                  </a:cubicBezTo>
                  <a:cubicBezTo>
                    <a:pt x="417228" y="18350"/>
                    <a:pt x="417905" y="18350"/>
                    <a:pt x="418583" y="18710"/>
                  </a:cubicBezTo>
                  <a:cubicBezTo>
                    <a:pt x="538227" y="64765"/>
                    <a:pt x="626350" y="186379"/>
                    <a:pt x="628044" y="396449"/>
                  </a:cubicBezTo>
                  <a:lnTo>
                    <a:pt x="628044" y="3871709"/>
                  </a:lnTo>
                  <a:lnTo>
                    <a:pt x="0" y="3871709"/>
                  </a:lnTo>
                  <a:lnTo>
                    <a:pt x="0" y="399028"/>
                  </a:lnTo>
                  <a:cubicBezTo>
                    <a:pt x="1695" y="185660"/>
                    <a:pt x="88462" y="64045"/>
                    <a:pt x="209461" y="19070"/>
                  </a:cubicBezTo>
                  <a:close/>
                </a:path>
              </a:pathLst>
            </a:custGeom>
            <a:solidFill>
              <a:srgbClr val="F7BAB9">
                <a:alpha val="6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9850"/>
              <a:ext cx="628044" cy="3801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1714500" y="114672"/>
            <a:ext cx="8839409" cy="85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5143" b="1">
                <a:solidFill>
                  <a:srgbClr val="A548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Recommendations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15615120" y="-783449"/>
            <a:ext cx="2710980" cy="2507265"/>
          </a:xfrm>
          <a:custGeom>
            <a:avLst/>
            <a:gdLst/>
            <a:ahLst/>
            <a:cxnLst/>
            <a:rect l="l" t="t" r="r" b="b"/>
            <a:pathLst>
              <a:path w="2710980" h="2507265">
                <a:moveTo>
                  <a:pt x="0" y="0"/>
                </a:moveTo>
                <a:lnTo>
                  <a:pt x="2710980" y="0"/>
                </a:lnTo>
                <a:lnTo>
                  <a:pt x="2710980" y="2507265"/>
                </a:lnTo>
                <a:lnTo>
                  <a:pt x="0" y="2507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119998"/>
            <a:ext cx="12000124" cy="117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Make Long Plans Attractive (Encourage customers to choose long-term plans)</a:t>
            </a:r>
          </a:p>
          <a:p>
            <a:pPr algn="l">
              <a:lnSpc>
                <a:spcPts val="3081"/>
              </a:lnSpc>
            </a:pP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Catch Customers Before They Leave (Identify and retain high-risk users early)</a:t>
            </a:r>
          </a:p>
          <a:p>
            <a:pPr algn="l">
              <a:lnSpc>
                <a:spcPts val="3081"/>
              </a:lnSpc>
            </a:pP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Improve Service Experience (Better quality = happier, loyal customers)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3767" y="1669146"/>
            <a:ext cx="10451673" cy="35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Internet Service &amp; Churn Insight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970684"/>
            <a:ext cx="12000124" cy="1172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1"/>
              </a:lnSpc>
            </a:pPr>
            <a:r>
              <a:rPr lang="en-US" sz="2201" b="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Internet services</a:t>
            </a:r>
          </a:p>
          <a:p>
            <a:pPr>
              <a:lnSpc>
                <a:spcPts val="3081"/>
              </a:lnSpc>
            </a:pP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Improve internet speed and </a:t>
            </a:r>
            <a:r>
              <a:rPr lang="en-US" sz="2201" dirty="0" err="1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stabilityFix</a:t>
            </a: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>
              <a:lnSpc>
                <a:spcPts val="3081"/>
              </a:lnSpc>
            </a:pP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frequent downtime and service issues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9600" y="6209297"/>
            <a:ext cx="11846539" cy="35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417" lvl="1" indent="-211208" algn="l">
              <a:lnSpc>
                <a:spcPts val="2739"/>
              </a:lnSpc>
              <a:buFont typeface="Arial"/>
              <a:buChar char="•"/>
            </a:pPr>
            <a:r>
              <a:rPr lang="en-US" sz="1956" b="1" dirty="0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Additional services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191250"/>
            <a:ext cx="12000124" cy="1569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endParaRPr lang="en-US" sz="2201" dirty="0">
              <a:solidFill>
                <a:srgbClr val="A548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1"/>
              </a:lnSpc>
            </a:pP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Promote Device Protection &amp; Online Backup as bundles</a:t>
            </a:r>
          </a:p>
          <a:p>
            <a:pPr algn="l">
              <a:lnSpc>
                <a:spcPts val="3081"/>
              </a:lnSpc>
            </a:pP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Offer discounts or free trials for these services</a:t>
            </a:r>
          </a:p>
          <a:p>
            <a:pPr algn="l">
              <a:lnSpc>
                <a:spcPts val="3081"/>
              </a:lnSpc>
            </a:pPr>
            <a:r>
              <a:rPr lang="en-US" sz="2201" dirty="0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Educate customers about data safety &amp; device security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50" r="-2949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2939578" y="-4190991"/>
            <a:ext cx="1470298" cy="9063953"/>
            <a:chOff x="0" y="0"/>
            <a:chExt cx="628044" cy="38717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044" cy="3871709"/>
            </a:xfrm>
            <a:custGeom>
              <a:avLst/>
              <a:gdLst/>
              <a:ahLst/>
              <a:cxnLst/>
              <a:rect l="l" t="t" r="r" b="b"/>
              <a:pathLst>
                <a:path w="628044" h="3871709">
                  <a:moveTo>
                    <a:pt x="209461" y="19070"/>
                  </a:moveTo>
                  <a:cubicBezTo>
                    <a:pt x="241556" y="7556"/>
                    <a:pt x="278265" y="0"/>
                    <a:pt x="314191" y="0"/>
                  </a:cubicBezTo>
                  <a:cubicBezTo>
                    <a:pt x="350119" y="0"/>
                    <a:pt x="384690" y="6476"/>
                    <a:pt x="416549" y="17990"/>
                  </a:cubicBezTo>
                  <a:cubicBezTo>
                    <a:pt x="417228" y="18350"/>
                    <a:pt x="417905" y="18350"/>
                    <a:pt x="418583" y="18710"/>
                  </a:cubicBezTo>
                  <a:cubicBezTo>
                    <a:pt x="538227" y="64765"/>
                    <a:pt x="626350" y="186379"/>
                    <a:pt x="628044" y="396449"/>
                  </a:cubicBezTo>
                  <a:lnTo>
                    <a:pt x="628044" y="3871709"/>
                  </a:lnTo>
                  <a:lnTo>
                    <a:pt x="0" y="3871709"/>
                  </a:lnTo>
                  <a:lnTo>
                    <a:pt x="0" y="399028"/>
                  </a:lnTo>
                  <a:cubicBezTo>
                    <a:pt x="1695" y="185660"/>
                    <a:pt x="88462" y="64045"/>
                    <a:pt x="209461" y="19070"/>
                  </a:cubicBezTo>
                  <a:close/>
                </a:path>
              </a:pathLst>
            </a:custGeom>
            <a:solidFill>
              <a:srgbClr val="F7BAB9">
                <a:alpha val="6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9850"/>
              <a:ext cx="628044" cy="3801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476250" y="114672"/>
            <a:ext cx="8839409" cy="85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5143" b="1">
                <a:solidFill>
                  <a:srgbClr val="A5484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Assumptions &amp; Limitations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15615120" y="-783449"/>
            <a:ext cx="2710980" cy="2507265"/>
          </a:xfrm>
          <a:custGeom>
            <a:avLst/>
            <a:gdLst/>
            <a:ahLst/>
            <a:cxnLst/>
            <a:rect l="l" t="t" r="r" b="b"/>
            <a:pathLst>
              <a:path w="2710980" h="2507265">
                <a:moveTo>
                  <a:pt x="0" y="0"/>
                </a:moveTo>
                <a:lnTo>
                  <a:pt x="2710980" y="0"/>
                </a:lnTo>
                <a:lnTo>
                  <a:pt x="2710980" y="2507265"/>
                </a:lnTo>
                <a:lnTo>
                  <a:pt x="0" y="2507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8679" y="4499354"/>
            <a:ext cx="16001931" cy="418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9"/>
              </a:lnSpc>
            </a:pPr>
            <a:endParaRPr/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⚠️ </a:t>
            </a:r>
            <a:r>
              <a:rPr lang="en-US" sz="2935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  <a:p>
            <a:pPr marL="633700" lvl="1" indent="-316850" algn="l">
              <a:lnSpc>
                <a:spcPts val="4109"/>
              </a:lnSpc>
              <a:buAutoNum type="arabicPeriod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Dataset does not include customer satisfaction or feedback details (only inferred reasons)</a:t>
            </a:r>
          </a:p>
          <a:p>
            <a:pPr marL="633700" lvl="1" indent="-316850" algn="l">
              <a:lnSpc>
                <a:spcPts val="4109"/>
              </a:lnSpc>
              <a:buAutoNum type="arabicPeriod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External factors like competitor offers, location, or network coverage are not considered</a:t>
            </a:r>
          </a:p>
          <a:p>
            <a:pPr marL="633700" lvl="1" indent="-316850" algn="l">
              <a:lnSpc>
                <a:spcPts val="4109"/>
              </a:lnSpc>
              <a:buAutoNum type="arabicPeriod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Correlation observed (e.g., Fiber → high churn) does not guarantee causation</a:t>
            </a:r>
          </a:p>
          <a:p>
            <a:pPr marL="633700" lvl="1" indent="-316850" algn="l">
              <a:lnSpc>
                <a:spcPts val="4109"/>
              </a:lnSpc>
              <a:buAutoNum type="arabicPeriod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Some segments (like “No internet users”) may skew churn comparison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8679" y="1638091"/>
            <a:ext cx="16001931" cy="314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📌</a:t>
            </a:r>
            <a:r>
              <a:rPr lang="en-US" sz="2935" b="1">
                <a:solidFill>
                  <a:srgbClr val="A54840"/>
                </a:solidFill>
                <a:latin typeface="Poppins Bold"/>
                <a:ea typeface="Poppins Bold"/>
                <a:cs typeface="Poppins Bold"/>
                <a:sym typeface="Poppins Bold"/>
              </a:rPr>
              <a:t> Assumptions</a:t>
            </a:r>
          </a:p>
          <a:p>
            <a:pPr marL="633700" lvl="1" indent="-316850" algn="l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Data used is accurate and represents real customer behavior</a:t>
            </a:r>
          </a:p>
          <a:p>
            <a:pPr marL="633700" lvl="1" indent="-316850" algn="l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Churn is mainly influenced by service quality, pricing, and contract type</a:t>
            </a:r>
          </a:p>
          <a:p>
            <a:pPr marL="633700" lvl="1" indent="-316850" algn="l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Customers using internet services (Fiber/DSL) rely on consistent performance</a:t>
            </a:r>
          </a:p>
          <a:p>
            <a:pPr marL="633700" lvl="1" indent="-316850" algn="l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Add-on services (Backup, Protection) increase customer retention</a:t>
            </a:r>
          </a:p>
          <a:p>
            <a:pPr marL="633700" lvl="1" indent="-316850" algn="l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A54840"/>
                </a:solidFill>
                <a:latin typeface="Poppins"/>
                <a:ea typeface="Poppins"/>
                <a:cs typeface="Poppins"/>
                <a:sym typeface="Poppins"/>
              </a:rPr>
              <a:t>Senior citizens show more stable and loyal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714</Words>
  <Application>Microsoft Office PowerPoint</Application>
  <PresentationFormat>Custom</PresentationFormat>
  <Paragraphs>97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Montserrat Bold</vt:lpstr>
      <vt:lpstr>Calibri</vt:lpstr>
      <vt:lpstr>Libre Baskerville Bold</vt:lpstr>
      <vt:lpstr>Times New Roman MT Bold</vt:lpstr>
      <vt:lpstr>Poppins Bold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Light Green Gradient SWOT Analysis Presentation</dc:title>
  <cp:lastModifiedBy>prabhat prajapati</cp:lastModifiedBy>
  <cp:revision>6</cp:revision>
  <dcterms:created xsi:type="dcterms:W3CDTF">2006-08-16T00:00:00Z</dcterms:created>
  <dcterms:modified xsi:type="dcterms:W3CDTF">2026-03-28T11:40:13Z</dcterms:modified>
  <dc:identifier>DAHECfDtowE</dc:identifier>
</cp:coreProperties>
</file>